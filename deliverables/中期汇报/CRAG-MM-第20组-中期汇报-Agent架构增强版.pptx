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20388e802b4963" /><Relationship Type="http://schemas.openxmlformats.org/officeDocument/2006/relationships/extended-properties" Target="/docProps/app.xml" Id="R6cded632863a4155" /><Relationship Type="http://schemas.openxmlformats.org/officeDocument/2006/relationships/officeDocument" Target="/ppt/presentation.xml" Id="R070434c0f690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b19c646a14660"/>
  </p:sldMasterIdLst>
  <p:notesMasterIdLst>
    <p:notesMasterId xmlns:r="http://schemas.openxmlformats.org/officeDocument/2006/relationships" r:id="Rebf7a8ef376d4d5d"/>
  </p:notesMasterIdLst>
  <p:sldIdLst>
    <p:sldId xmlns:r="http://schemas.openxmlformats.org/officeDocument/2006/relationships" id="256" r:id="R7307cc2d4f15434a"/>
    <p:sldId xmlns:r="http://schemas.openxmlformats.org/officeDocument/2006/relationships" id="257" r:id="Rf17008633c794afb"/>
    <p:sldId xmlns:r="http://schemas.openxmlformats.org/officeDocument/2006/relationships" id="258" r:id="Rc9fb77e7b14449aa"/>
    <p:sldId xmlns:r="http://schemas.openxmlformats.org/officeDocument/2006/relationships" id="259" r:id="Rff41ec83c919416e"/>
    <p:sldId xmlns:r="http://schemas.openxmlformats.org/officeDocument/2006/relationships" id="260" r:id="R81d6a9df995145d7"/>
    <p:sldId xmlns:r="http://schemas.openxmlformats.org/officeDocument/2006/relationships" id="261" r:id="Rdf3214263529432d"/>
    <p:sldId xmlns:r="http://schemas.openxmlformats.org/officeDocument/2006/relationships" id="262" r:id="R1fe6b29605a9444e"/>
    <p:sldId xmlns:r="http://schemas.openxmlformats.org/officeDocument/2006/relationships" id="263" r:id="Rf735e55abfbe4c77"/>
    <p:sldId xmlns:r="http://schemas.openxmlformats.org/officeDocument/2006/relationships" id="264" r:id="R2b9d8430ffc24730"/>
    <p:sldId xmlns:r="http://schemas.openxmlformats.org/officeDocument/2006/relationships" id="265" r:id="Ra55b640e455542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e66198207c4453" /><Relationship Type="http://schemas.openxmlformats.org/officeDocument/2006/relationships/slideMaster" Target="/ppt/slideMasters/slideMaster1.xml" Id="R273b19c646a14660" /><Relationship Type="http://schemas.openxmlformats.org/officeDocument/2006/relationships/notesMaster" Target="/ppt/notesMasters/notesMaster1.xml" Id="Rebf7a8ef376d4d5d" /><Relationship Type="http://schemas.openxmlformats.org/officeDocument/2006/relationships/presProps" Target="/ppt/presProps.xml" Id="R8afe57583eab45dc" /><Relationship Type="http://schemas.openxmlformats.org/officeDocument/2006/relationships/tableStyles" Target="/ppt/tableStyles.xml" Id="R90bc0914055c4459" /><Relationship Type="http://schemas.openxmlformats.org/officeDocument/2006/relationships/slide" Target="/ppt/slides/slide1.xml" Id="R7307cc2d4f15434a" /><Relationship Type="http://schemas.openxmlformats.org/officeDocument/2006/relationships/slide" Target="/ppt/slides/slide2.xml" Id="Rf17008633c794afb" /><Relationship Type="http://schemas.openxmlformats.org/officeDocument/2006/relationships/slide" Target="/ppt/slides/slide3.xml" Id="Rc9fb77e7b14449aa" /><Relationship Type="http://schemas.openxmlformats.org/officeDocument/2006/relationships/slide" Target="/ppt/slides/slide4.xml" Id="Rff41ec83c919416e" /><Relationship Type="http://schemas.openxmlformats.org/officeDocument/2006/relationships/slide" Target="/ppt/slides/slide5.xml" Id="R81d6a9df995145d7" /><Relationship Type="http://schemas.openxmlformats.org/officeDocument/2006/relationships/slide" Target="/ppt/slides/slide6.xml" Id="Rdf3214263529432d" /><Relationship Type="http://schemas.openxmlformats.org/officeDocument/2006/relationships/slide" Target="/ppt/slides/slide7.xml" Id="R1fe6b29605a9444e" /><Relationship Type="http://schemas.openxmlformats.org/officeDocument/2006/relationships/slide" Target="/ppt/slides/slide8.xml" Id="Rf735e55abfbe4c77" /><Relationship Type="http://schemas.openxmlformats.org/officeDocument/2006/relationships/slide" Target="/ppt/slides/slide9.xml" Id="R2b9d8430ffc24730" /><Relationship Type="http://schemas.openxmlformats.org/officeDocument/2006/relationships/slide" Target="/ppt/slides/slide10.xml" Id="Ra55b640e4555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b82ad711f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a954177e94269" /><Relationship Type="http://schemas.openxmlformats.org/officeDocument/2006/relationships/notesMaster" Target="/ppt/notesMasters/notesMaster1.xml" Id="R960b59f3b11a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10ca3870e4b80" /><Relationship Type="http://schemas.openxmlformats.org/officeDocument/2006/relationships/notesMaster" Target="/ppt/notesMasters/notesMaster1.xml" Id="R289ce257249b40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0ec530b9744103" /><Relationship Type="http://schemas.openxmlformats.org/officeDocument/2006/relationships/notesMaster" Target="/ppt/notesMasters/notesMaster1.xml" Id="Rad1d41aef0d0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2fc57d95c74153" /><Relationship Type="http://schemas.openxmlformats.org/officeDocument/2006/relationships/notesMaster" Target="/ppt/notesMasters/notesMaster1.xml" Id="R27f0782b9da847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df8a9eca754ee3" /><Relationship Type="http://schemas.openxmlformats.org/officeDocument/2006/relationships/notesMaster" Target="/ppt/notesMasters/notesMaster1.xml" Id="R24d193331fa646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2756853a3f4cc5" /><Relationship Type="http://schemas.openxmlformats.org/officeDocument/2006/relationships/notesMaster" Target="/ppt/notesMasters/notesMaster1.xml" Id="R837764246f49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acd1055d44529" /><Relationship Type="http://schemas.openxmlformats.org/officeDocument/2006/relationships/notesMaster" Target="/ppt/notesMasters/notesMaster1.xml" Id="R4499dfce4d68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3dc7c6e49e451e" /><Relationship Type="http://schemas.openxmlformats.org/officeDocument/2006/relationships/notesMaster" Target="/ppt/notesMasters/notesMaster1.xml" Id="R5d08632eed644e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4ad3cccf294e12" /><Relationship Type="http://schemas.openxmlformats.org/officeDocument/2006/relationships/notesMaster" Target="/ppt/notesMasters/notesMaster1.xml" Id="R321aa141b12d4a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9262f025d8406e" /><Relationship Type="http://schemas.openxmlformats.org/officeDocument/2006/relationships/notesMaster" Target="/ppt/notesMasters/notesMaster1.xml" Id="Rc1744d456c8749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【张家豪｜约20秒】老师好，我们是第20组。今天重点讲三件事：第一，基础多模态 Agent 怎么从图片走到答案；第二，为什么我们在生成前加入 VEGA-RAG 证据门控；第三，队友如何用六层八轮控制变量实验验证每个环节。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【张家豪｜约50秒】当前进展可以分三块。我负责统一 Agent、模型后端、Prompt、答案标准化和 Trace；俞凡负责六层八轮实验、GPU 真实运行和 Fast50 语义复核；Task2 联调、失败复盘和最终材料共同完成。现在不是只有方案文档，而是代码、真实结果和讲述口径已经对齐。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【张家豪｜约80秒】先看基础 Agent。输入是图片和问题。第一阶段用 CLIP 做图像向量检索，取得相似图片、相似度和候选实体；Task2 再用候选实体名称与原问题组成 Web 查询。第二阶段把 Image KG 和 Web 结果清洗、去重、排序，并在 Prompt 中分区。第三阶段把原图、问题和证据一起送入 11B 视觉语言模型，通过 vLLM 推理，最后统一答案格式并记录 Trace。这张图就是整个项目的主干。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【张家豪｜约80秒】这里展开 Task2。CLIP 负责从图片找到候选实体；Image KG 提供与实体绑定的结构化属性；Web 检索不是直接搜索图片，而是用实体名称加问题构造查询，再用文本向量模型计算标题、摘要与查询的相关性。两路证据分别过滤、去重和排序，最后在 Prompt 中明确标成 IMAGE KG EVIDENCE 和 WEB EVIDENCE，避免模型把相似图片知识当成当前图片的直接事实。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【张家豪｜约60秒】基础版本最大的问题是一条错误传播链。图片检索如果先选错实体，Web 查询也围绕错实体展开；网页可能真的包含这个实体，于是看起来两路证据互相支持，最后模型给出非常自信的错误答案。所以 VEGA 的位置必须在生成之前：先评估实体与证据是否可信，再决定是否让模型回答。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【张家豪｜约75秒】VEGA 先用图像相似度、Web 对实体的支持和属性与问题的相关性，对候选实体重新评分。然后进入三段式门控：高置信直接回答；中置信用最高分实体加原问题改写查询，再追加五条 Web 证据；低置信或出现数字冲突时直接输出 I don't know。创新点不是训练新模型，而是让系统在生成前拥有可解释的选择性回答能力。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【张家豪｜约45秒】Trace 是我们能做控制变量实验的基础。每个样例都保留候选实体和两路证据、门控分数和分支、原始与标准化答案、拒答或重试原因以及阶段耗时。这样错误不再只是一个最终分数，而能定位到检索、证据、门控或生成中的具体环节。下面由俞凡介绍基于这些记录完成的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【俞凡｜约55秒】这八轮并不全是 Agent 结构优化。我们把系统拆成六层：Prompt、证据排序、动态检索、拒答门控、答案校验和解码参数。P-R1 到 D-R2 都在同一 Fast50 样本上逐项控制变量，目的是分清收益究竟来自证据表达、检索决策、生成后安全网，还是随机采样。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【俞凡｜约75秒】复核后有三条稳妥结论。第一，结构化 Prompt 最明确：严格准确率从17.5%到22.5%，语义覆盖率从30%到40%，幻觉率从80%降到70%。第二，A3/FULL 用拒答把幻觉率从70%降到57.5%，Truthfulness 提升到-0.400，但 Missing 升到25%，属于用覆盖换安全。第三，A2 在后40条主评测中一次都没触发，所以不能宣称追加检索有效；FULL 实际行为等同A3。解码seed18的提升也不稳定，不作为创新结论。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【张家豪｜约50秒】最后总结。我们已经形成基础多模态 RAG 闭环、VEGA 可解释门控和六层控制变量实验。当前局限也很明确：Web 查询由候选实体构造，容易自我强化；正确实体没进入候选集合时，后续重排救不回来。下一阶段先提高实体召回与独立置信度，重新校准 A2 的中置信区间，再扩大验证集并接入 Task3。总时间控制在十分钟以内。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19025460740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5f6ec1c434997" /><Relationship Type="http://schemas.openxmlformats.org/officeDocument/2006/relationships/slideLayout" Target="/ppt/slideLayouts/slideLayout1.xml" Id="R85dbb9f7646644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dbb9f76466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4eea874e04665" /><Relationship Type="http://schemas.openxmlformats.org/officeDocument/2006/relationships/image" Target="/ppt/media/image.jpeg" Id="R3c573dfdf668451d" /><Relationship Type="http://schemas.openxmlformats.org/officeDocument/2006/relationships/notesSlide" Target="/ppt/notesSlides/notesSlide1.xml" Id="R32f8e33f20f044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05341964e4c42" /><Relationship Type="http://schemas.openxmlformats.org/officeDocument/2006/relationships/notesSlide" Target="/ppt/notesSlides/notesSlide2.xml" Id="R855d8a3bbe154d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78328f102456b" /><Relationship Type="http://schemas.openxmlformats.org/officeDocument/2006/relationships/notesSlide" Target="/ppt/notesSlides/notesSlide3.xml" Id="Rb7bbc05d9a2747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90fe27f0645c8" /><Relationship Type="http://schemas.openxmlformats.org/officeDocument/2006/relationships/notesSlide" Target="/ppt/notesSlides/notesSlide4.xml" Id="R016cc9d89ced4a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2edcf71014aab" /><Relationship Type="http://schemas.openxmlformats.org/officeDocument/2006/relationships/notesSlide" Target="/ppt/notesSlides/notesSlide5.xml" Id="R7bfa08b4a32a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78956cea94d06" /><Relationship Type="http://schemas.openxmlformats.org/officeDocument/2006/relationships/notesSlide" Target="/ppt/notesSlides/notesSlide6.xml" Id="Ra938d3d071a148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a1c52083a4d95" /><Relationship Type="http://schemas.openxmlformats.org/officeDocument/2006/relationships/notesSlide" Target="/ppt/notesSlides/notesSlide7.xml" Id="Rca61d163f94b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fa6e01ead4018" /><Relationship Type="http://schemas.openxmlformats.org/officeDocument/2006/relationships/notesSlide" Target="/ppt/notesSlides/notesSlide8.xml" Id="R3773fa8f15a748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5cc913c02409b" /><Relationship Type="http://schemas.openxmlformats.org/officeDocument/2006/relationships/notesSlide" Target="/ppt/notesSlides/notesSlide9.xml" Id="R3d79e99ae42b44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96f6d5b0b415f" /><Relationship Type="http://schemas.openxmlformats.org/officeDocument/2006/relationships/notesSlide" Target="/ppt/notesSlides/notesSlide10.xml" Id="R9f5d4b80695c4d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B37A-6216-4804-A49B-74BDE54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19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253EF-1958-40AE-A9DB-72DA506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第20组中期汇报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FEF58-DFE1-4A78-AE41-F1EA4C7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面向 CRAG-MM 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F7C31-6AC8-4545-A879-DD0E598D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52387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多模态检索增强问答系统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BEA09-6EAD-413E-BC14-4F16D025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Agent 架构、VEGA-RAG 门控与 Fast50 复核实验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15F1D-1A3E-49ED-B9DF-5A29DE65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AA9A6-FC76-4E21-A9D1-834DE94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张家豪 · 俞凡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2BF84-612C-4C89-9CCC-A4884D76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2026.07.17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40D5-4292-4E4F-A7CF-33C29EE4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基础链路、创新机制和真实实验已形成可追溯闭环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73dfdf668451d"/>
          <a:srcRect xmlns:a="http://schemas.openxmlformats.org/drawingml/2006/main" l="11551" t="0" r="115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0"/>
            <a:ext cx="6172200" cy="6019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145BD-7DA7-4752-B73C-E5E5250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5A581-1766-4505-BDDE-6E99E06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当前进展已经覆盖工程、架构与真实实验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679BF-E879-436A-9232-E3D88184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074B5-1653-4CB2-9816-C8C1787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两人的工作已在同一 Task2 闭环中对齐：先构建系统，再做真实运行与语义复核。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30FF3-12F0-4389-BCDC-53A3203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045B-D5DF-4283-8D11-D3AB9C4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C13B-C676-4A14-89B7-0F99D56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张家豪  |  系统架构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487D-4A58-4BD3-8F2D-89B2E6E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统一 Agent 与 task_mode
CLIP / Image KG / Web / vLLM
Prompt、标准化与 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C8E9A-A352-4DF2-8B36-17EE30D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83BBB-7480-4A9D-A83B-E62EC4E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9EDF2-51FF-4D0D-A2F5-D4C7A48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俞凡  |  实验验证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58345-DCEA-4EDA-A2DA-FA95B85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六层八轮控制变量实验
真实 GPU 运行与指标汇总
Fast50 语义复核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27185-33F8-493F-AE0B-08FB9CB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1620-615E-4AA6-BD49-7775D5D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57369-37A0-4DE5-9619-434C34A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共同完成  |  当前交付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56CA3-7E27-420C-97D7-02E0EA6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Task2 联调与失败复盘
代码、报告、PPT 已整合
下一步进入 Task3</a:t>
            </a:r>
          </a:p>
        </p:txBody>
      </p:sp>
    </p:spTree>
    <p:extLst>
      <p:ext uri="{BB962C8B-B14F-4D97-AF65-F5344CB8AC3E}">
        <p14:creationId xmlns:p14="http://schemas.microsoft.com/office/powerpoint/2010/main" val="1116730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C3BAC-2BAC-49F9-831D-6F5C54B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07AA-2628-435D-A8A6-29ED11A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基础 Agent 是一条从图像到可追溯答案的闭环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91AEF-1A26-4C54-B74D-FE3AFA50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334F8-D636-4023-8F75-0CD53809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主流程没有跳步：先拿到候选知识，再组织证据，最后让视觉语言模型回答。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666750" y="3238500"/>
            <a:ext cx="10382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DE3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C18FB-4BAB-4CDF-A450-C2BACCB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94BC6-10E6-42E9-AB35-873C3B9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D2606-9D4B-4318-9330-6AD5FC1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输入与双路检索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ADA7F-48DA-434E-84C0-5146499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图片 + 用户问题
CLIP → Image KG 候选
实体名称 → Web 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E275B-BE8D-4254-A07F-DEBCE6F5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485F-20C4-4E8B-A6CB-6069CC7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B14CA-4B1A-4658-B6DE-D975F07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证据构造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CA295-4DEF-41DD-9E35-CCB4C45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清洗、去重、相关性排序
Image KG / Web 分区
写入结构化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AAEF9-FA11-4C91-B7A7-5A86E7E4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E4D90-F808-4804-9FE2-34DD0B3F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9BA9D-834C-4153-BE01-D6213CF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生成、标准化与记录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FC88A-A018-43DD-88F1-5AD6F716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原图 + 问题 + 最终证据
11B VLM 通过 vLLM 推理
答案标准化并保存 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5E509-482B-4FCB-973A-8957805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29250"/>
            <a:ext cx="3009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520C8-8589-4BA6-B075-4590CDE1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67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基础流程：图像检索 → KG → Web → 证据 → 生成 → 标准化</a:t>
            </a:r>
          </a:p>
        </p:txBody>
      </p:sp>
    </p:spTree>
    <p:extLst>
      <p:ext uri="{BB962C8B-B14F-4D97-AF65-F5344CB8AC3E}">
        <p14:creationId xmlns:p14="http://schemas.microsoft.com/office/powerpoint/2010/main" val="918428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86366-A35A-4842-9A55-03533BD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FF1C-A2DF-4E20-A6B0-7DF3DB4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Task2 的关键不是多搜，而是把两路证据组织清楚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1E9E-D90D-40D7-92FE-2D8AC28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0CB43-628D-440F-98E2-7C40D70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Image KG 提供候选实体与属性，Web 补充外部事实；两路证据保持来源边界。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B8B93-02A8-4174-A5A2-24DB2E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D532D-F0EF-4F2E-AF13-AEFA359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ECE48-7F7A-4A79-AFF1-2D4932B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CLIP 图像检索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000D3-A0C8-4C70-BFA7-909EE61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输入图片向量化
检索官方相似图片库
返回相似度与候选实体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A4F6-1264-4298-AB32-ED675C7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39E3-5F9A-4EFF-9CAF-0A5D4A5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C9F7-085F-4155-9512-1F97E2C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Image KG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4F9E8-C5E2-48F3-B793-B91A81C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读取实体绑定属性
清洗与实体去重
按问题相关性排序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A009B-89C0-426A-9689-60759EF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D2C1-AEB0-4C5B-996A-012C943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9FF6F-5BF7-4EF2-8C12-D5689AE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Web 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25ECC-8699-48A1-A810-6FD44F8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实体名称 + 原问题构造查询
标题/摘要语义相似度排序
过滤低分、URL 与文本重复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CD424-F01E-4F39-8925-9F750A1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F4376-DEF7-4FB5-8DC3-6940741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D9160-6723-4A00-8E87-2A594F0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Prompt 与推理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7A5BA-BE81-4D65-A899-6CCC5A1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IMAGE KG / WEB 分区
直接图像优先、冲突时拒答
vLLM 生成并标准化答案</a:t>
            </a:r>
          </a:p>
        </p:txBody>
      </p:sp>
    </p:spTree>
    <p:extLst>
      <p:ext uri="{BB962C8B-B14F-4D97-AF65-F5344CB8AC3E}">
        <p14:creationId xmlns:p14="http://schemas.microsoft.com/office/powerpoint/2010/main" val="208394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86366-A35A-4842-9A55-03533BD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FF1C-A2DF-4E20-A6B0-7DF3DB4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错误实体会沿检索链传播，VEGA 必须在生成前截断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1E9E-D90D-40D7-92FE-2D8AC28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0CB43-628D-440F-98E2-7C40D70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基础 B0 过早相信图像检索第一名，后续每一步都可能继续强化同一个起点错误。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B8B93-02A8-4174-A5A2-24DB2E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D532D-F0EF-4F2E-AF13-AEFA359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ECE48-7F7A-4A79-AFF1-2D4932B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视觉匹配错实体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000D3-A0C8-4C70-BFA7-909EE61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CLIP 将原图匹配到
外观相似但身份错误的实体
正确实体可能已不在候选集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A4F6-1264-4298-AB32-ED675C7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39E3-5F9A-4EFF-9CAF-0A5D4A5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C9F7-085F-4155-9512-1F97E2C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错误实体诱导查询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4F9E8-C5E2-48F3-B793-B91A81C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Web 查询由候选实体构造
搜索从一开始就带入错误名称
召回结果被查询方向限制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A009B-89C0-426A-9689-60759EF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D2C1-AEB0-4C5B-996A-012C943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9FF6F-5BF7-4EF2-8C12-D5689AE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噪声证据自我强化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25ECC-8699-48A1-A810-6FD44F8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网页可能支持这个错误实体
支持度升高不等于实体正确
只增加检索数量无法修复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CD424-F01E-4F39-8925-9F750A1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F4376-DEF7-4FB5-8DC3-6940741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D9160-6723-4A00-8E87-2A594F0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模型生成自信幻觉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7A5BA-BE81-4D65-A899-6CCC5A1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错误 KG + 错误 Web 被一起拼接
模型得到表面一致的证据
最终输出错误但流畅的答案</a:t>
            </a:r>
          </a:p>
        </p:txBody>
      </p:sp>
    </p:spTree>
    <p:extLst>
      <p:ext uri="{BB962C8B-B14F-4D97-AF65-F5344CB8AC3E}">
        <p14:creationId xmlns:p14="http://schemas.microsoft.com/office/powerpoint/2010/main" val="208394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CB6F3-D11C-44D8-8C08-1E083F5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25DC-F326-41AC-A5BA-6C847E2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VEGA-RAG 把证据评估变成三段式决策门控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FB90-1999-4AB9-92C0-0C6EE8E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C8E8-9F9A-4F77-B3E9-3BFFCE8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系统综合图像相似度、Web 支持和问题属性相关性，先重排候选，再按置信度选择动作。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3B03-6FEE-40B1-AFE0-77E1BE7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6DA4-BC86-485B-ADB5-6142CCC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1635-C01D-4F3C-99E8-E497CD1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高置信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DA11-3E07-4FD5-834D-1C1A7AC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重排后直接回答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C0D1-A44B-4ACE-80D1-8364020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实体一致、证据无冲突；使用重排后的 KG + Web 进入模型。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F6BC-C8C6-48B5-B883-BE4832A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320E7-E121-4E0F-9708-504B0E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35BB2-76F6-4E2B-9772-29BD426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中置信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8E10-DED6-42BD-91A1-35E7B7A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重写查询并追加检索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C6592-4134-45BD-9A19-EC9F94E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用最高分实体 + 原问题改写查询，追加 5 条 Web 后再次去重。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71EF4-DE2F-4B28-8047-4E76F04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7FB5-E43F-49B7-B513-3B620D5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5BC7-D5CD-413C-B14E-0CE7156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低置信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75D4-4FD6-4D2F-9B9B-9FA9ED3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冲突时直接拒答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96FA9-F9D8-444D-9DA6-05DE00A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实体一致性 ≤ 0.2 或数字冲突
直接输出 I don't know
不再进入生成模型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DC952-C9D3-4415-AC28-25A5813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6D7D3-3995-499B-A085-C184753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3261E"/>
                </a:solidFill>
                <a:latin typeface="Arial Unicode MS"/>
                <a:ea typeface="Arial Unicode MS"/>
                <a:cs typeface="Arial Unicode MS"/>
              </a:defRPr>
            </a:pPr>
            <a:r>
              <a:t>FULL = A1 实体重排 + A2 自适应扩检 + A3 校准拒答</a:t>
            </a:r>
          </a:p>
        </p:txBody>
      </p:sp>
    </p:spTree>
    <p:extLst>
      <p:ext uri="{BB962C8B-B14F-4D97-AF65-F5344CB8AC3E}">
        <p14:creationId xmlns:p14="http://schemas.microsoft.com/office/powerpoint/2010/main" val="1916593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CB6F3-D11C-44D8-8C08-1E083F5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25DC-F326-41AC-A5BA-6C847E2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Trace 将一次回答拆成可复盘的证据与决策记录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FB90-1999-4AB9-92C0-0C6EE8E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C8E8-9F9A-4F77-B3E9-3BFFCE8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每个样例不仅保存最终答案，还保存“看到了什么、为什么走这条分支、哪里耗时”。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3B03-6FEE-40B1-AFE0-77E1BE7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6DA4-BC86-485B-ADB5-6142CCC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1635-C01D-4F3C-99E8-E497CD1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EVID.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DA11-3E07-4FD5-834D-1C1A7AC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证据记录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C0D1-A44B-4ACE-80D1-8364020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候选实体、相似度、KG 属性、Web 标题/摘要/URL 与去重结果。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F6BC-C8C6-48B5-B883-BE4832A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320E7-E121-4E0F-9708-504B0E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35BB2-76F6-4E2B-9772-29BD426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8E10-DED6-42BD-91A1-35E7B7A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决策记录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C6592-4134-45BD-9A19-EC9F94E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一致性分数、冲突标志、直接/扩检/拒答分支及拒答原因。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71EF4-DE2F-4B28-8047-4E76F04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7FB5-E43F-49B7-B513-3B620D5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5BC7-D5CD-413C-B14E-0CE7156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75D4-4FD6-4D2F-9B9B-9FA9ED3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输出与运行记录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96FA9-F9D8-444D-9DA6-05DE00A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原始与标准化答案、风险标志、单次重试结果和各阶段耗时。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DC952-C9D3-4415-AC28-25A5813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6D7D3-3995-499B-A085-C184753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3261E"/>
                </a:solidFill>
                <a:latin typeface="Arial Unicode MS"/>
                <a:ea typeface="Arial Unicode MS"/>
                <a:cs typeface="Arial Unicode MS"/>
              </a:defRPr>
            </a:pPr>
            <a:r>
              <a:t>失败可定位为：检索错 / 证据噪声 / 门控失效 / 生成幻觉</a:t>
            </a:r>
          </a:p>
        </p:txBody>
      </p:sp>
    </p:spTree>
    <p:extLst>
      <p:ext uri="{BB962C8B-B14F-4D97-AF65-F5344CB8AC3E}">
        <p14:creationId xmlns:p14="http://schemas.microsoft.com/office/powerpoint/2010/main" val="1916593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145BD-7DA7-4752-B73C-E5E5250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5A581-1766-4505-BDDE-6E99E06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8 轮实验覆盖六层，而不只是改 Agent 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679BF-E879-436A-9232-E3D88184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074B5-1653-4CB2-9816-C8C1787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同一 Fast50 样本下逐项做控制变量：一次只改变一个可观测环节。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30FF3-12F0-4389-BCDC-53A3203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045B-D5DF-4283-8D11-D3AB9C4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01–02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C13B-C676-4A14-89B7-0F99D56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Prompt + 证据排序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487D-4A58-4BD3-8F2D-89B2E6E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P-R1：结构化证据 Prompt
A-R1：实体一致性重排
测“怎么表达、怎么排序”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C8E9A-A352-4DF2-8B36-17EE30D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83BBB-7480-4A9D-A83B-E62EC4E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03–05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9EDF2-51FF-4D0D-A2F5-D4C7A48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动态检索 + 拒答门控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58345-DCEA-4EDA-A2DA-FA95B85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A-R2：中置信追加 Web
A-R3：低置信/冲突拒答
A-R4：FULL 三段式门控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27185-33F8-493F-AE0B-08FB9CB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1620-615E-4AA6-BD49-7775D5D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06–08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57369-37A0-4DE5-9619-434C34A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答案校验 + 解码参数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56CA3-7E27-420C-97D7-02E0EA6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O-R1：风险答案单次重试
D-R1/R2：temperature、seed
测“生成后与采样稳定性”</a:t>
            </a:r>
          </a:p>
        </p:txBody>
      </p:sp>
    </p:spTree>
    <p:extLst>
      <p:ext uri="{BB962C8B-B14F-4D97-AF65-F5344CB8AC3E}">
        <p14:creationId xmlns:p14="http://schemas.microsoft.com/office/powerpoint/2010/main" val="1116730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CB6F3-D11C-44D8-8C08-1E083F5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25DC-F326-41AC-A5BA-6C847E2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复核后最稳的结论：Prompt 提质，拒答控风险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FB90-1999-4AB9-92C0-0C6EE8E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C8E8-9F9A-4F77-B3E9-3BFFCE8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Fast50 后 40 条为主评测；语义复核纠正旧裁判标签，但不是重新运行模型。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3B03-6FEE-40B1-AFE0-77E1BE7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6DA4-BC86-485B-ADB5-6142CCC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1635-C01D-4F3C-99E8-E497CD1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+5.0 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DA11-3E07-4FD5-834D-1C1A7AC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P1 严格准确率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C0D1-A44B-4ACE-80D1-8364020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17.5% → 22.5%；覆盖率 +10.0pp，Hallucination -10.0pp。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F6BC-C8C6-48B5-B883-BE4832A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320E7-E121-4E0F-9708-504B0E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35BB2-76F6-4E2B-9772-29BD426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-12.5 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8E10-DED6-42BD-91A1-35E7B7A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A3/FULL Hallucination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C6592-4134-45BD-9A19-EC9F94E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70.0% → 57.5%；Truthfulness -0.475 → -0.400，Missing 25.0%。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71EF4-DE2F-4B28-8047-4E76F04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7FB5-E43F-49B7-B513-3B620D5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5BC7-D5CD-413C-B14E-0CE7156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0 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75D4-4FD6-4D2F-9B9B-9FA9ED3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A2 主评测扩检触发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96FA9-F9D8-444D-9DA6-05DE00A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主评测未进入中置信分支；FULL 实际退化为 A3，动态扩检尚未验证。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DC952-C9D3-4415-AC28-25A5813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6D7D3-3995-499B-A085-C184753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3261E"/>
                </a:solidFill>
                <a:latin typeface="Arial Unicode MS"/>
                <a:ea typeface="Arial Unicode MS"/>
                <a:cs typeface="Arial Unicode MS"/>
              </a:defRPr>
            </a:pPr>
            <a:r>
              <a:t>内部语义复核  |  Primary-40  |  非 AIcrowd 官方分数  |  seed 变化不稳定</a:t>
            </a:r>
          </a:p>
        </p:txBody>
      </p:sp>
    </p:spTree>
    <p:extLst>
      <p:ext uri="{BB962C8B-B14F-4D97-AF65-F5344CB8AC3E}">
        <p14:creationId xmlns:p14="http://schemas.microsoft.com/office/powerpoint/2010/main" val="1916593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2C877-A693-4752-85EE-29FA39DA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24B2D-101F-48AF-AC4C-64EA825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当前已形成可讲清、可复盘、可继续优化的系统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8AD11-3BC1-47C4-ACC6-331C8221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CEDCC-4989-4007-9656-B8A5B07E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基础 Agent、VEGA 门控和六层控制变量实验已经打通；结论同时保留收益、代价与边界。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110EB-4DFC-41F4-8431-3DECDB44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1A43E-199B-4ACC-9577-051CA72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5905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基础 RAG 闭环 +
可解释证据门控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76E4-3466-4CCC-8FB5-8710C70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6191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局限：候选实体决定 Web 查询，可能自我强化；正确实体未进入候选集时，重排仍无法找回。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4A81C-2550-444B-BCF3-EF726BB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44005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3B1AA-DC54-4DF0-9203-D3AD92C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后续规划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92972-8826-4108-BD0B-72403DD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97D6E-71B2-4985-A01E-B3211EB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提升候选实体召回与独立置信度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0AB04-6983-4183-8CC9-071BF1D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64B04-D67B-4466-ABB4-9FEE39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重新校准中置信区间，真正触发 A2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4A2DC-77D3-4D62-B321-167BA5B5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98949-2218-4FE0-A60A-4E7224C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属性级冲突检测与 O1 校验联动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ECFB1-1E93-42EC-8616-6BF4DBD0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52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F1E9C-9DF0-4B79-8ADA-59128862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扩展完整 validation，并重复多 seed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3F1A5-080D-46B8-9873-C63B62F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01D18-2456-4668-869B-220776DF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57775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58324-1371-4298-97AC-7F7FDE0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复用单轮门控，接入 Task3 多轮状态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3659D-09A2-49A9-B5D7-251DBC7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核心判断：先修实体识别与证据独立性，再追求更高准确率。</a:t>
            </a:r>
          </a:p>
        </p:txBody>
      </p:sp>
    </p:spTree>
    <p:extLst>
      <p:ext uri="{BB962C8B-B14F-4D97-AF65-F5344CB8AC3E}">
        <p14:creationId xmlns:p14="http://schemas.microsoft.com/office/powerpoint/2010/main" val="567676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2026-07-17T05:37:48.4640000Z</dcterms:created>
  <dcterms:modified xsi:type="dcterms:W3CDTF">2026-07-17T05:37:48.4640000Z</dcterms:modified>
</coreProperties>
</file>