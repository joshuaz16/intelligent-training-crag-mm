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fe878e38714330" /><Relationship Type="http://schemas.openxmlformats.org/officeDocument/2006/relationships/extended-properties" Target="/docProps/app.xml" Id="Red6e83eeac5e40f3" /><Relationship Type="http://schemas.openxmlformats.org/officeDocument/2006/relationships/officeDocument" Target="/ppt/presentation.xml" Id="R8f72d85378044e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32385bc27047f2"/>
  </p:sldMasterIdLst>
  <p:notesMasterIdLst>
    <p:notesMasterId xmlns:r="http://schemas.openxmlformats.org/officeDocument/2006/relationships" r:id="R3f1b0766c50f4dac"/>
  </p:notesMasterIdLst>
  <p:sldIdLst>
    <p:sldId xmlns:r="http://schemas.openxmlformats.org/officeDocument/2006/relationships" id="256" r:id="Rbfb337ae15b1480d"/>
    <p:sldId xmlns:r="http://schemas.openxmlformats.org/officeDocument/2006/relationships" id="257" r:id="Ra9b347f4d5dc4acd"/>
    <p:sldId xmlns:r="http://schemas.openxmlformats.org/officeDocument/2006/relationships" id="258" r:id="R88b76f3b6d1c447b"/>
    <p:sldId xmlns:r="http://schemas.openxmlformats.org/officeDocument/2006/relationships" id="259" r:id="R2abaa01ebea44f5d"/>
    <p:sldId xmlns:r="http://schemas.openxmlformats.org/officeDocument/2006/relationships" id="260" r:id="Rf724f3535afb4de3"/>
    <p:sldId xmlns:r="http://schemas.openxmlformats.org/officeDocument/2006/relationships" id="261" r:id="Rd578df02114d4bea"/>
    <p:sldId xmlns:r="http://schemas.openxmlformats.org/officeDocument/2006/relationships" id="262" r:id="R0da69c1015c0420b"/>
    <p:sldId xmlns:r="http://schemas.openxmlformats.org/officeDocument/2006/relationships" id="263" r:id="Rca10f6a78269468a"/>
    <p:sldId xmlns:r="http://schemas.openxmlformats.org/officeDocument/2006/relationships" id="264" r:id="R3b391b139077411e"/>
    <p:sldId xmlns:r="http://schemas.openxmlformats.org/officeDocument/2006/relationships" id="265" r:id="R800d9015b93d4f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55c867b3d94c4e" /><Relationship Type="http://schemas.openxmlformats.org/officeDocument/2006/relationships/slideMaster" Target="/ppt/slideMasters/slideMaster1.xml" Id="Rf932385bc27047f2" /><Relationship Type="http://schemas.openxmlformats.org/officeDocument/2006/relationships/notesMaster" Target="/ppt/notesMasters/notesMaster1.xml" Id="R3f1b0766c50f4dac" /><Relationship Type="http://schemas.openxmlformats.org/officeDocument/2006/relationships/presProps" Target="/ppt/presProps.xml" Id="Rf12ef933dd834870" /><Relationship Type="http://schemas.openxmlformats.org/officeDocument/2006/relationships/tableStyles" Target="/ppt/tableStyles.xml" Id="R0680e24812a84e06" /><Relationship Type="http://schemas.openxmlformats.org/officeDocument/2006/relationships/slide" Target="/ppt/slides/slide1.xml" Id="Rbfb337ae15b1480d" /><Relationship Type="http://schemas.openxmlformats.org/officeDocument/2006/relationships/slide" Target="/ppt/slides/slide2.xml" Id="Ra9b347f4d5dc4acd" /><Relationship Type="http://schemas.openxmlformats.org/officeDocument/2006/relationships/slide" Target="/ppt/slides/slide3.xml" Id="R88b76f3b6d1c447b" /><Relationship Type="http://schemas.openxmlformats.org/officeDocument/2006/relationships/slide" Target="/ppt/slides/slide4.xml" Id="R2abaa01ebea44f5d" /><Relationship Type="http://schemas.openxmlformats.org/officeDocument/2006/relationships/slide" Target="/ppt/slides/slide5.xml" Id="Rf724f3535afb4de3" /><Relationship Type="http://schemas.openxmlformats.org/officeDocument/2006/relationships/slide" Target="/ppt/slides/slide6.xml" Id="Rd578df02114d4bea" /><Relationship Type="http://schemas.openxmlformats.org/officeDocument/2006/relationships/slide" Target="/ppt/slides/slide7.xml" Id="R0da69c1015c0420b" /><Relationship Type="http://schemas.openxmlformats.org/officeDocument/2006/relationships/slide" Target="/ppt/slides/slide8.xml" Id="Rca10f6a78269468a" /><Relationship Type="http://schemas.openxmlformats.org/officeDocument/2006/relationships/slide" Target="/ppt/slides/slide9.xml" Id="R3b391b139077411e" /><Relationship Type="http://schemas.openxmlformats.org/officeDocument/2006/relationships/slide" Target="/ppt/slides/slide10.xml" Id="R800d9015b93d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a8932e523c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d419c41044fce" /><Relationship Type="http://schemas.openxmlformats.org/officeDocument/2006/relationships/notesMaster" Target="/ppt/notesMasters/notesMaster1.xml" Id="Rc2037ad6e273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dde36c4fa4087" /><Relationship Type="http://schemas.openxmlformats.org/officeDocument/2006/relationships/notesMaster" Target="/ppt/notesMasters/notesMaster1.xml" Id="R910a2ebf5ee4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9cd4fc9d3442d0" /><Relationship Type="http://schemas.openxmlformats.org/officeDocument/2006/relationships/notesMaster" Target="/ppt/notesMasters/notesMaster1.xml" Id="Rfcee02e615a442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f0c4aa1134ef1" /><Relationship Type="http://schemas.openxmlformats.org/officeDocument/2006/relationships/notesMaster" Target="/ppt/notesMasters/notesMaster1.xml" Id="R231fa12523704d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91f273d0ee4a45" /><Relationship Type="http://schemas.openxmlformats.org/officeDocument/2006/relationships/notesMaster" Target="/ppt/notesMasters/notesMaster1.xml" Id="R4a33ba458dc843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79422d67054876" /><Relationship Type="http://schemas.openxmlformats.org/officeDocument/2006/relationships/notesMaster" Target="/ppt/notesMasters/notesMaster1.xml" Id="Rd460f27a2317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0611f8dbd4feb" /><Relationship Type="http://schemas.openxmlformats.org/officeDocument/2006/relationships/notesMaster" Target="/ppt/notesMasters/notesMaster1.xml" Id="R64530d7bb50243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d787c0eabc446c" /><Relationship Type="http://schemas.openxmlformats.org/officeDocument/2006/relationships/notesMaster" Target="/ppt/notesMasters/notesMaster1.xml" Id="R84d58598bb1a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9e9f9c69d64120" /><Relationship Type="http://schemas.openxmlformats.org/officeDocument/2006/relationships/notesMaster" Target="/ppt/notesMasters/notesMaster1.xml" Id="Rb82adfdf3d2348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349e2ae0984f5c" /><Relationship Type="http://schemas.openxmlformats.org/officeDocument/2006/relationships/notesMaster" Target="/ppt/notesMasters/notesMaster1.xml" Id="R26f5ca730f95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秒。老师好，我们是第 20 组。项目面向 CRAG-MM 多模态问答：系统先理解图片，再通过 Image KG 和网页证据回答长尾事实问题。我们的重点不是单纯增加检索，而是控制错实体、证据冲突和模型幻觉。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50 秒。CRAG-MM 按能力递进：Vision 只看原图；Task1 只用 Image KG；Task2 再增加 Web Search；Task3 引入多轮历史。我们已经完成 Vision、Task1、Task2 的统一架构和 Task2 真实实验，Task3 是下一阶段。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秒。这页是整合后的进度。第一步是环境、任务约束和验收口径；第二步是我负责的统一 Agent 与队友负责的检索证据链；第三步是队友在双 A800 上完成真实 30 条消融。相关 PR 已经合入主分支。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65 秒。我主要负责这层统一 Agent。task_mode 在代码层隔离证据边界，避免 Task1 意外调用 Web。队友将 Image KG 和 Web 结果解析为结构化证据。Prompt 中分开当前图像、相似图片 KG 和网页事实，最后保存每个样例的证据、门控动作、回答和异常。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75 秒。这是我们的核心创新。B0 是原始基线。A1 结合图像相似度、Web 支持和问题属性对候选实体重排。A2 只在中置信区间追加一次 Web。A3 在低置信或数值冲突时跳过生成并拒答。FULL 组合三个模块。校准时我们还加入最低覆盖率约束，防止系统退化成全部拒答。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70 秒。队友租用双 A800 完成了真实运行。固定 30 条 validation 样例，使用同一 11B 视觉模型，temperature 为 0，阈值在校准后冻结。每轮用两张 A800 同时跑基线和变体，共完成 B0 对 A1、A2、A3、FULL 四轮成对消融，并保留逐样例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75 秒。这里展示全 30 条描述性结果。A1 和 A2 没有提高 Accuracy，Hallucination 只从 76.7% 降到 73.3%。A3 和 FULL 将 Hallucination 降到 63.3%，Truthfulness 从 -0.567 提高到 -0.467；但 Accuracy 降至 16.7%，回答覆盖率降至 80%。因此正确结论是安全性改善但存在可用性代价，不是全面提升。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65 秒。第一，A1/A2 没有创造新正确答案，A2 只有 1 条触发扩展，说明触发器覆盖不足。第二，A3/FULL 确实降低幻觉，但拒答增加。第三，主要瓶颈是视觉实体识别：如果起点选错实体，后续网页检索只会为错实体补充更多信息。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秒。我负责统一 Agent、模型后端、Prompt、拒答与后处理，并整理整体验收口径。俞凡负责 Image KG 和 Web 证据解析、字段重排、实验脚本、双 A800 运行和指标案例。固定样例、Task2 联调、失败复盘和汇报结论由两人共同完成。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秒。总结来说，我们已经将工程底座、检索证据链、VEGA-RAG 门控和真实双 A800 消融整合在一起。结果说明拒答可以减少幻觉，但要解决准确率，下一步必须先改进视觉实体识别，再扩大样本并进入 Task3 多轮对话。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5ae83712646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0647ab36b438c" /><Relationship Type="http://schemas.openxmlformats.org/officeDocument/2006/relationships/slideLayout" Target="/ppt/slideLayouts/slideLayout1.xml" Id="Ra867e832a7a341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7e832a7a341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6844ee3ae4ebe" /><Relationship Type="http://schemas.openxmlformats.org/officeDocument/2006/relationships/image" Target="/ppt/media/image.jpeg" Id="R9525592a909342e6" /><Relationship Type="http://schemas.openxmlformats.org/officeDocument/2006/relationships/notesSlide" Target="/ppt/notesSlides/notesSlide1.xml" Id="R7f2ee55df9024c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5462cc5eb4481" /><Relationship Type="http://schemas.openxmlformats.org/officeDocument/2006/relationships/notesSlide" Target="/ppt/notesSlides/notesSlide2.xml" Id="R1f5eca8a91a0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9e6aea1b84ad1" /><Relationship Type="http://schemas.openxmlformats.org/officeDocument/2006/relationships/notesSlide" Target="/ppt/notesSlides/notesSlide3.xml" Id="R893b1284197c47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9cd2a8c5d4de7" /><Relationship Type="http://schemas.openxmlformats.org/officeDocument/2006/relationships/notesSlide" Target="/ppt/notesSlides/notesSlide4.xml" Id="R02930e4dc4014e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04ceb90d34754" /><Relationship Type="http://schemas.openxmlformats.org/officeDocument/2006/relationships/notesSlide" Target="/ppt/notesSlides/notesSlide5.xml" Id="Rd9cad0caab34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b256b8e0c4ef2" /><Relationship Type="http://schemas.openxmlformats.org/officeDocument/2006/relationships/notesSlide" Target="/ppt/notesSlides/notesSlide6.xml" Id="R0bb2b7e956dc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ee610788e45f5" /><Relationship Type="http://schemas.openxmlformats.org/officeDocument/2006/relationships/notesSlide" Target="/ppt/notesSlides/notesSlide7.xml" Id="R1e9e590d307440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f1602dc8f44c9" /><Relationship Type="http://schemas.openxmlformats.org/officeDocument/2006/relationships/notesSlide" Target="/ppt/notesSlides/notesSlide8.xml" Id="R40bcd9255680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99e7b98594d13" /><Relationship Type="http://schemas.openxmlformats.org/officeDocument/2006/relationships/notesSlide" Target="/ppt/notesSlides/notesSlide9.xml" Id="R2b06dc0ab5eb43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f410f3b1c4f07" /><Relationship Type="http://schemas.openxmlformats.org/officeDocument/2006/relationships/notesSlide" Target="/ppt/notesSlides/notesSlide10.xml" Id="R9413d1e089ba41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B37A-6216-4804-A49B-74BDE54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1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53EF-1958-40AE-A9DB-72DA506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第20组中期汇报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FEF58-DFE1-4A78-AE41-F1EA4C7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面向 CRAG-MM 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F7C31-6AC8-4545-A879-DD0E598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5238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多模态检索增强问答系统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BEA09-6EAD-413E-BC14-4F16D025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工程底座、VEGA-RAG 创新与真实双 A800 消融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15F1D-1A3E-49ED-B9DF-5A29DE65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AA9A6-FC76-4E21-A9D1-834DE94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张家豪 · 俞凡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2BF84-612C-4C89-9CCC-A4884D76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2026.07.17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40D5-4292-4E4F-A7CF-33C29EE4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图片来自固定 validation 样例；真实双 A800 实验已完成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5592a909342e6"/>
          <a:srcRect xmlns:a="http://schemas.openxmlformats.org/drawingml/2006/main" l="11551" t="0" r="115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019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145BD-7DA7-4752-B73C-E5E5250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A581-1766-4505-BDDE-6E99E06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三个任务递进，当前完成单轮真实闭环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79BF-E879-436A-9232-E3D8818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74B5-1653-4CB2-9816-C8C178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前两周完成架构和可追溯底座；本轮已补齐 Task2 真实实验与消融。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0FF3-12F0-4389-BCDC-53A3203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045B-D5DF-4283-8D11-D3AB9C4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C13B-C676-4A14-89B7-0F99D56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 1  单源增强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487D-4A58-4BD3-8F2D-89B2E6E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原图 + 问题 + Image KG
接口层禁止 Web Search
状态：工程链路完成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C8E9A-A352-4DF2-8B36-17EE30D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83BBB-7480-4A9D-A83B-E62EC4E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EDF2-51FF-4D0D-A2F5-D4C7A48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 2  多源增强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8345-DCEA-4EDA-A2DA-FA95B85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Image KG + Web Search
查询改写与多源证据
状态：真实实验完成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27185-33F8-493F-AE0B-08FB9CB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1620-615E-4AA6-BD49-7775D5D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57369-37A0-4DE5-9619-434C34A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 3  多轮对话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56CA3-7E27-420C-97D7-02E0EA6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历史状态与指代消解
复用单轮检索与门控
状态：下一阶段</a:t>
            </a:r>
          </a:p>
        </p:txBody>
      </p:sp>
    </p:spTree>
    <p:extLst>
      <p:ext uri="{BB962C8B-B14F-4D97-AF65-F5344CB8AC3E}">
        <p14:creationId xmlns:p14="http://schemas.microsoft.com/office/powerpoint/2010/main" val="1116730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C3BAC-2BAC-49F9-831D-6F5C54B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07AA-2628-435D-A8A6-29ED11A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两边工作已合成一条完整交付链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1AEF-1A26-4C54-B74D-FE3AFA5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334F8-D636-4023-8F75-0CD53809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先做可运行、可追溯的 Agent，再用真实 GPU 实验验证创新模块。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66750" y="3238500"/>
            <a:ext cx="10382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DE3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C18FB-4BAB-4CDF-A450-C2BACCB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94BC6-10E6-42E9-AB35-873C3B9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W1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D2606-9D4B-4318-9330-6AD5FC1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环境与边界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ADA7F-48DA-434E-84C0-5146499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Python 3.11 环境
任务约束与提交接口
固定样例与验收口径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275B-BE8D-4254-A07F-DEBCE6F5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485F-20C4-4E8B-A6CB-6069CC7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W2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B14CA-4B1A-4658-B6DE-D975F07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Agent 与检索链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CA295-4DEF-41DD-9E35-CCB4C45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Vision / Task1 / Task2
模式隔离与后端适配
结构化证据与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AAEF9-FA11-4C91-B7A7-5A86E7E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E4D90-F808-4804-9FE2-34DD0B3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9BA9D-834C-4153-BE01-D6213CF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真实实验闭环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FC88A-A018-43DD-88F1-5AD6F716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双 A800 成对运行
固定 30 条 validation
B0/A1/A2/A3/FULL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5E509-482B-4FCB-973A-8957805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29250"/>
            <a:ext cx="3009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520C8-8589-4BA6-B075-4590CDE1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PR #2 已合入 main</a:t>
            </a:r>
          </a:p>
        </p:txBody>
      </p:sp>
    </p:spTree>
    <p:extLst>
      <p:ext uri="{BB962C8B-B14F-4D97-AF65-F5344CB8AC3E}">
        <p14:creationId xmlns:p14="http://schemas.microsoft.com/office/powerpoint/2010/main" val="918428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86366-A35A-4842-9A55-03533BD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FF1C-A2DF-4E20-A6B0-7DF3DB4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统一 Agent 把检索、证据约束与回答串成闭环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1E9E-D90D-40D7-92FE-2D8AC28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CB43-628D-440F-98E2-7C40D70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相同检索、Prompt 和后处理逻辑同时支持本地 MLX 调试与云端 vLLM 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B8B93-02A8-4174-A5A2-24DB2E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532D-F0EF-4F2E-AF13-AEFA359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ECE48-7F7A-4A79-AFF1-2D4932B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模式门控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000D3-A0C8-4C70-BFA7-909EE61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Vision 不检索
Task1 只用 Image KG
Task2 允许 KG +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A4F6-1264-4298-AB32-ED675C7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39E3-5F9A-4EFF-9CAF-0A5D4A5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C9F7-085F-4155-9512-1F97E2C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结构化检索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4F9E8-C5E2-48F3-B793-B91A81C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候选实体与 KG 属性
Web 标题、摘要、URL
过滤、去重与重排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A009B-89C0-426A-9689-60759EF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D2C1-AEB0-4C5B-996A-012C943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FF6F-5BF7-4EF2-8C12-D5689AE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证据约束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25ECC-8699-48A1-A810-6FD44F8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当前图像与外部知识分区
KG / Web 分别编号
证据不足时不猜测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CD424-F01E-4F39-8925-9F750A1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4376-DEF7-4FB5-8DC3-6940741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D9160-6723-4A00-8E87-2A594F0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回答与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7A5BA-BE81-4D65-A899-6CCC5A1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75 token 上限与空答回退
异常、证据和门控全记录
样例级 JSONL 可追溯</a:t>
            </a:r>
          </a:p>
        </p:txBody>
      </p:sp>
    </p:spTree>
    <p:extLst>
      <p:ext uri="{BB962C8B-B14F-4D97-AF65-F5344CB8AC3E}">
        <p14:creationId xmlns:p14="http://schemas.microsoft.com/office/powerpoint/2010/main" val="208394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86366-A35A-4842-9A55-03533BD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FF1C-A2DF-4E20-A6B0-7DF3DB4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VEGA-RAG 用置信度决定回答、补检索还是拒答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1E9E-D90D-40D7-92FE-2D8AC28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CB43-628D-440F-98E2-7C40D70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创新不是无条件增加搜索，而是把检索成本、证据冲突和幻觉风险放进同一门控。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B8B93-02A8-4174-A5A2-24DB2E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532D-F0EF-4F2E-AF13-AEFA359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ECE48-7F7A-4A79-AFF1-2D4932B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B0  原始基线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000D3-A0C8-4C70-BFA7-909EE61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Image KG + Web
每源一次检索
作为成对实验对照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A4F6-1264-4298-AB32-ED675C7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39E3-5F9A-4EFF-9CAF-0A5D4A5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C9F7-085F-4155-9512-1F97E2C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A1  实体感知重排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4F9E8-C5E2-48F3-B793-B91A81C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图像相似度 + Web 支持
结合问题属性重排
目标：减少错实体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A009B-89C0-426A-9689-60759EF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D2C1-AEB0-4C5B-996A-012C943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FF6F-5BF7-4EF2-8C12-D5689AE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A2  自适应追加检索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25ECC-8699-48A1-A810-6FD44F8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中置信区间追加 Web
每次最多扩展一次
目标：控制额外成本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CD424-F01E-4F39-8925-9F750A1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4376-DEF7-4FB5-8DC3-6940741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D9160-6723-4A00-8E87-2A594F0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A3/FULL  校准拒答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7A5BA-BE81-4D65-A899-6CCC5A1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低置信或数值冲突拒答
FULL 组合 A1 + A2 + A3
避免错误但自信回答</a:t>
            </a:r>
          </a:p>
        </p:txBody>
      </p:sp>
    </p:spTree>
    <p:extLst>
      <p:ext uri="{BB962C8B-B14F-4D97-AF65-F5344CB8AC3E}">
        <p14:creationId xmlns:p14="http://schemas.microsoft.com/office/powerpoint/2010/main" val="208394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B6F3-D11C-44D8-8C08-1E083F5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25DC-F326-41AC-A5BA-6C847E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真实双 A800 实验把工程验证推进到效果验证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FB90-1999-4AB9-92C0-0C6EE8E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C8E8-9F9A-4F77-B3E9-3BFFCE8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所有版本使用同一批样例、同一模型和冻结阈值，每轮基线与变体成对运行。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3B03-6FEE-40B1-AFE0-77E1BE7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6DA4-BC86-485B-ADB5-6142CCC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1635-C01D-4F3C-99E8-E497CD1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DA11-3E07-4FD5-834D-1C1A7AC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组成式消融轮次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C0D1-A44B-4ACE-80D1-8364020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来自 validation；固定 manifest 与随机种子，版本间不换题。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F6BC-C8C6-48B5-B883-BE4832A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320E7-E121-4E0F-9708-504B0E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35BB2-76F6-4E2B-9772-29BD426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2×A800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E10-DED6-42BD-91A1-35E7B7A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基线与变体成对运行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6592-4134-45BD-9A19-EC9F94E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GPU0/GPU1 同轮启动；共 8 个接受运行，两侧均完整。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71EF4-DE2F-4B28-8047-4E76F04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7FB5-E43F-49B7-B513-3B620D5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5BC7-D5CD-413C-B14E-0CE7156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5D4-4FD6-4D2F-9B9B-9FA9E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真实固定样例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6FA9-F9D8-444D-9DA6-05DE00A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B0 分别对比 A1、A2、A3 和 FULL，隔离每个模块的真实作用。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DC952-C9D3-4415-AC28-25A5813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6D7D3-3995-499B-A085-C18475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3261E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同一 11B 视觉模型  |  temperature=0  |  冻结阈值  |  样例级 Trace</a:t>
            </a:r>
          </a:p>
        </p:txBody>
      </p:sp>
    </p:spTree>
    <p:extLst>
      <p:ext uri="{BB962C8B-B14F-4D97-AF65-F5344CB8AC3E}">
        <p14:creationId xmlns:p14="http://schemas.microsoft.com/office/powerpoint/2010/main" val="1916593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1F53C-D424-46FC-BBED-65F5932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3403C-EDE8-48EB-8C1C-0D597BA2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全 30 条结果：拒答显著降幻觉，但牺牲覆盖率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69B02-0222-4DCE-8135-830AB67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5A12B-CAD1-4DBD-88FB-965F60C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描述性结果包含 10 条校准样本；用于展示整体权衡，不宣称官方排行榜提升。</a:t>
            </a:r>
          </a:p>
        </p:txBody>
      </p:sp>
      <p:graphicFrame>
        <p:nvGraphicFramePr>
          <p:cNvPr id="12" name="evidence-status"/>
          <p:cNvGraphicFramePr/>
          <p:nvPr/>
        </p:nvGraphicFramePr>
        <p:xfrm>
          <a:off xmlns:a="http://schemas.openxmlformats.org/drawingml/2006/main" x="400050" y="2114550"/>
          <a:ext xmlns:a="http://schemas.openxmlformats.org/drawingml/2006/main" cx="113919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047875"/>
                <a:gridCol w="3905250"/>
                <a:gridCol w="4171950"/>
              </a:tblGrid>
              <a:tr h="647700">
                <a:tc>
                  <a:txBody>
                    <a:bodyPr/>
                    <a:lstStyle/>
                    <a:p>
                      <a:r>
                        <a:t>版本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Hallucination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Truthfulness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B0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76.7%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-0.567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73.3%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-0.533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73.3%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-0.533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A3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63.3%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-0.467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FULL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63.3%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-0.467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484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B6F3-D11C-44D8-8C08-1E083F5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25DC-F326-41AC-A5BA-6C847E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三条结论比“分数涨了”更重要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FB90-1999-4AB9-92C0-0C6EE8E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C8E8-9F9A-4F77-B3E9-3BFFCE8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真实结果没有包装成全面提升，而是明确暴露收益、代价和当前瓶颈。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3B03-6FEE-40B1-AFE0-77E1BE7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6DA4-BC86-485B-ADB5-6142CCC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1635-C01D-4F3C-99E8-E497CD1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DA11-3E07-4FD5-834D-1C1A7AC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A1/A2 Accuracy 增益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C0D1-A44B-4ACE-80D1-8364020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重排与追加检索未产生新正确答案；A2 仅 1/30 触发扩展。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F6BC-C8C6-48B5-B883-BE4832A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320E7-E121-4E0F-9708-504B0E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35BB2-76F6-4E2B-9772-29BD426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-13.4 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E10-DED6-42BD-91A1-35E7B7A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A3/FULL 幻觉变化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6592-4134-45BD-9A19-EC9F94E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Hallucination 76.7% → 63.3%；Truthfulness 同时改善 0.10。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71EF4-DE2F-4B28-8047-4E76F04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7FB5-E43F-49B7-B513-3B620D5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5BC7-D5CD-413C-B14E-0CE7156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5D4-4FD6-4D2F-9B9B-9FA9E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FULL 回答覆盖率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6FA9-F9D8-444D-9DA6-05DE00A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安全性提升以拒答增加和 Accuracy 下降为代价。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DC952-C9D3-4415-AC28-25A5813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6D7D3-3995-499B-A085-C18475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3261E"/>
                </a:solidFill>
                <a:latin typeface="Arial Unicode MS"/>
                <a:ea typeface="Arial Unicode MS"/>
                <a:cs typeface="Arial Unicode MS"/>
              </a:defRPr>
            </a:pPr>
            <a:r>
              <a:t>核心瓶颈：视觉实体识别；选错实体后，更多网页证据无法修复起点错误。</a:t>
            </a:r>
          </a:p>
        </p:txBody>
      </p:sp>
    </p:spTree>
    <p:extLst>
      <p:ext uri="{BB962C8B-B14F-4D97-AF65-F5344CB8AC3E}">
        <p14:creationId xmlns:p14="http://schemas.microsoft.com/office/powerpoint/2010/main" val="1916593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145BD-7DA7-4752-B73C-E5E5250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A581-1766-4505-BDDE-6E99E06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两人分工覆盖生成链、检索链和共同验收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79BF-E879-436A-9232-E3D8818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74B5-1653-4CB2-9816-C8C178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按模块负责、以固定样例和真实 Trace 共同复核，避免把材料编写当成完成。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0FF3-12F0-4389-BCDC-53A3203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045B-D5DF-4283-8D11-D3AB9C4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C13B-C676-4A14-89B7-0F99D56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张家豪  |  Agent 与生成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487D-4A58-4BD3-8F2D-89B2E6E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统一 Agent 与 task_mode
MLX/vLLM、Prompt 与拒答
后处理、验收口径与整合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C8E9A-A352-4DF2-8B36-17EE30D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83BBB-7480-4A9D-A83B-E62EC4E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EDF2-51FF-4D0D-A2F5-D4C7A48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俞凡  |  检索与实验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8345-DCEA-4EDA-A2DA-FA95B85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Image KG/Web 证据解析
字段重排、去重与实验脚本
双 A800 运行、指标与案例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27185-33F8-493F-AE0B-08FB9CB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1620-615E-4AA6-BD49-7775D5D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57369-37A0-4DE5-9619-434C34A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共同完成  |  联调与验收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56CA3-7E27-420C-97D7-02E0EA6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固定 manifest 与实验方案
Task2 联调与失败复盘
报告、PPT 与结论复核</a:t>
            </a:r>
          </a:p>
        </p:txBody>
      </p:sp>
    </p:spTree>
    <p:extLst>
      <p:ext uri="{BB962C8B-B14F-4D97-AF65-F5344CB8AC3E}">
        <p14:creationId xmlns:p14="http://schemas.microsoft.com/office/powerpoint/2010/main" val="1116730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2C877-A693-4752-85EE-29FA39D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24B2D-101F-48AF-AC4C-64EA825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现在完成真实闭环，下一步解决实体识别瓶颈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8AD11-3BC1-47C4-ACC6-331C8221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EDCC-4989-4007-9656-B8A5B07E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当前可准确表述：工程底座与 30 条真实消融完成，安全性改善但准确率未提升。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110EB-4DFC-41F4-8431-3DECDB4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A43E-199B-4ACC-9577-051CA72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905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可运行、可追溯、
真实消融已完成。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76E4-3466-4CCC-8FB5-8710C70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6191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A3/FULL 降低了幻觉并提高 Truthfulness，但覆盖率和 Accuracy 有代价；核心瓶颈是视觉实体识别。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4A81C-2550-444B-BCF3-EF726BB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44005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3B1AA-DC54-4DF0-9203-D3AD92C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后续规划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92972-8826-4108-BD0B-72403DD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97D6E-71B2-4985-A01E-B3211EB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独立视觉实体置信度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0AB04-6983-4183-8CC9-071BF1D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64B04-D67B-4466-ABB4-9FEE39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将数值冲突升级为属性级冲突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4A2DC-77D3-4D62-B321-167BA5B5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98949-2218-4FE0-A60A-4E7224C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改进 A2 的自适应触发器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ECFB1-1E93-42EC-8616-6BF4DBD0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F1E9C-9DF0-4B79-8ADA-59128862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扩展完整 validation 与重复 seed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3F1A5-080D-46B8-9873-C63B62F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01D18-2456-4668-869B-220776DF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57775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58324-1371-4298-97AC-7F7FDE0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接入 Task3 多轮历史与指代恢复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3659D-09A2-49A9-B5D7-251DBC7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当前交付：代码、原始指标、实验报告和汇报 PPT 已整合。</a:t>
            </a:r>
          </a:p>
        </p:txBody>
      </p:sp>
    </p:spTree>
    <p:extLst>
      <p:ext uri="{BB962C8B-B14F-4D97-AF65-F5344CB8AC3E}">
        <p14:creationId xmlns:p14="http://schemas.microsoft.com/office/powerpoint/2010/main" val="567676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2026-07-17T02:48:04.2020000Z</dcterms:created>
  <dcterms:modified xsi:type="dcterms:W3CDTF">2026-07-17T02:48:04.2020000Z</dcterms:modified>
</coreProperties>
</file>