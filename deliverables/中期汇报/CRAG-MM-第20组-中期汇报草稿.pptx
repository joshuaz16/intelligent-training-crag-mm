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3a821ee69f47ec" /><Relationship Type="http://schemas.openxmlformats.org/officeDocument/2006/relationships/extended-properties" Target="/docProps/app.xml" Id="Ref877be7aeb341a9" /><Relationship Type="http://schemas.openxmlformats.org/officeDocument/2006/relationships/officeDocument" Target="/ppt/presentation.xml" Id="Rb776c498a8f341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1129b925964672"/>
  </p:sldMasterIdLst>
  <p:notesMasterIdLst>
    <p:notesMasterId xmlns:r="http://schemas.openxmlformats.org/officeDocument/2006/relationships" r:id="R60b3ba876e0741ad"/>
  </p:notesMasterIdLst>
  <p:sldIdLst>
    <p:sldId xmlns:r="http://schemas.openxmlformats.org/officeDocument/2006/relationships" id="256" r:id="R14977b82e41f4c30"/>
    <p:sldId xmlns:r="http://schemas.openxmlformats.org/officeDocument/2006/relationships" id="257" r:id="Reae9b8c66fc74ce6"/>
    <p:sldId xmlns:r="http://schemas.openxmlformats.org/officeDocument/2006/relationships" id="258" r:id="R457f87c15ec246c9"/>
    <p:sldId xmlns:r="http://schemas.openxmlformats.org/officeDocument/2006/relationships" id="259" r:id="R4502fd5355ee4216"/>
    <p:sldId xmlns:r="http://schemas.openxmlformats.org/officeDocument/2006/relationships" id="260" r:id="Ra1b16d570bc14a97"/>
    <p:sldId xmlns:r="http://schemas.openxmlformats.org/officeDocument/2006/relationships" id="261" r:id="R6f2009f35a534926"/>
    <p:sldId xmlns:r="http://schemas.openxmlformats.org/officeDocument/2006/relationships" id="262" r:id="R6cfa40621c02444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f7057f300145f2" /><Relationship Type="http://schemas.openxmlformats.org/officeDocument/2006/relationships/slideMaster" Target="/ppt/slideMasters/slideMaster1.xml" Id="R351129b925964672" /><Relationship Type="http://schemas.openxmlformats.org/officeDocument/2006/relationships/notesMaster" Target="/ppt/notesMasters/notesMaster1.xml" Id="R60b3ba876e0741ad" /><Relationship Type="http://schemas.openxmlformats.org/officeDocument/2006/relationships/presProps" Target="/ppt/presProps.xml" Id="R1949120f0cd740b0" /><Relationship Type="http://schemas.openxmlformats.org/officeDocument/2006/relationships/tableStyles" Target="/ppt/tableStyles.xml" Id="R921c9eaaed624411" /><Relationship Type="http://schemas.openxmlformats.org/officeDocument/2006/relationships/slide" Target="/ppt/slides/slide1.xml" Id="R14977b82e41f4c30" /><Relationship Type="http://schemas.openxmlformats.org/officeDocument/2006/relationships/slide" Target="/ppt/slides/slide2.xml" Id="Reae9b8c66fc74ce6" /><Relationship Type="http://schemas.openxmlformats.org/officeDocument/2006/relationships/slide" Target="/ppt/slides/slide3.xml" Id="R457f87c15ec246c9" /><Relationship Type="http://schemas.openxmlformats.org/officeDocument/2006/relationships/slide" Target="/ppt/slides/slide4.xml" Id="R4502fd5355ee4216" /><Relationship Type="http://schemas.openxmlformats.org/officeDocument/2006/relationships/slide" Target="/ppt/slides/slide5.xml" Id="Ra1b16d570bc14a97" /><Relationship Type="http://schemas.openxmlformats.org/officeDocument/2006/relationships/slide" Target="/ppt/slides/slide6.xml" Id="R6f2009f35a534926" /><Relationship Type="http://schemas.openxmlformats.org/officeDocument/2006/relationships/slide" Target="/ppt/slides/slide7.xml" Id="R6cfa40621c0244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6c036967e946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f5a34ea5794e80" /><Relationship Type="http://schemas.openxmlformats.org/officeDocument/2006/relationships/notesMaster" Target="/ppt/notesMasters/notesMaster1.xml" Id="R130d77befaeb44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2a34ab58584bb4" /><Relationship Type="http://schemas.openxmlformats.org/officeDocument/2006/relationships/notesMaster" Target="/ppt/notesMasters/notesMaster1.xml" Id="Re16eb8f8946b45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fcc685f50b4438" /><Relationship Type="http://schemas.openxmlformats.org/officeDocument/2006/relationships/notesMaster" Target="/ppt/notesMasters/notesMaster1.xml" Id="Rd014376ce3ea45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b8c903c1314be3" /><Relationship Type="http://schemas.openxmlformats.org/officeDocument/2006/relationships/notesMaster" Target="/ppt/notesMasters/notesMaster1.xml" Id="R3f92e2d7a8a141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0ea37f795f4231" /><Relationship Type="http://schemas.openxmlformats.org/officeDocument/2006/relationships/notesMaster" Target="/ppt/notesMasters/notesMaster1.xml" Id="R04b2bab68bc44a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cac472360947d8" /><Relationship Type="http://schemas.openxmlformats.org/officeDocument/2006/relationships/notesMaster" Target="/ppt/notesMasters/notesMaster1.xml" Id="R10cbff6a200d49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b7fe42432442c6" /><Relationship Type="http://schemas.openxmlformats.org/officeDocument/2006/relationships/notesMaster" Target="/ppt/notesMasters/notesMaster1.xml" Id="R848bf97018bc44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6f72f084644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5c2d54d17c4766" /><Relationship Type="http://schemas.openxmlformats.org/officeDocument/2006/relationships/slideLayout" Target="/ppt/slideLayouts/slideLayout1.xml" Id="Rbbc70cabfe8944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c70cabfe8944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692fe9f5c43c8" /><Relationship Type="http://schemas.openxmlformats.org/officeDocument/2006/relationships/image" Target="/ppt/media/image.jpeg" Id="R07c5d15143b54426" /><Relationship Type="http://schemas.openxmlformats.org/officeDocument/2006/relationships/notesSlide" Target="/ppt/notesSlides/notesSlide1.xml" Id="R5d7a01436d5c48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dea063f7c4699" /><Relationship Type="http://schemas.openxmlformats.org/officeDocument/2006/relationships/notesSlide" Target="/ppt/notesSlides/notesSlide2.xml" Id="R1e59787708ad4a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e27bf61f4415d" /><Relationship Type="http://schemas.openxmlformats.org/officeDocument/2006/relationships/notesSlide" Target="/ppt/notesSlides/notesSlide3.xml" Id="R5c6cb97223ab45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45266b2794bd5" /><Relationship Type="http://schemas.openxmlformats.org/officeDocument/2006/relationships/notesSlide" Target="/ppt/notesSlides/notesSlide4.xml" Id="Ra24dde85dab4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e0f803af94d43" /><Relationship Type="http://schemas.openxmlformats.org/officeDocument/2006/relationships/notesSlide" Target="/ppt/notesSlides/notesSlide5.xml" Id="Ra75f168349d044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2ac6a0a2a4f91" /><Relationship Type="http://schemas.openxmlformats.org/officeDocument/2006/relationships/notesSlide" Target="/ppt/notesSlides/notesSlide6.xml" Id="R52d97fd5d2f049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2f84da5c045f6" /><Relationship Type="http://schemas.openxmlformats.org/officeDocument/2006/relationships/notesSlide" Target="/ppt/notesSlides/notesSlide7.xml" Id="Rc3fa7425fed346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59B37A-6216-4804-A49B-74BDE549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19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253EF-1958-40AE-A9DB-72DA5062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72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第20组中期汇报草稿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FEF58-DFE1-4A78-AE41-F1EA4C74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面向 CRAG-MM 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F7C31-6AC8-4545-A879-DD0E598D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38375"/>
            <a:ext cx="52387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多模态检索增强问答系统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BEA09-6EAD-413E-BC14-4F16D025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495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前两周重做、验收边界与云端闭环路线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15F1D-1A3E-49ED-B9DF-5A29DE65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AA9A6-FC76-4E21-A9D1-834DE94E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244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张家豪 · 俞凡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2BF84-612C-4C89-9CCC-A4884D76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054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2026.07.12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940D5-4292-4E4F-A7CF-33C29EE4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91250"/>
            <a:ext cx="521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图片来自固定 validation 样例，用于本地真实模型冒烟测试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5d15143b54426"/>
          <a:srcRect xmlns:a="http://schemas.openxmlformats.org/drawingml/2006/main" l="11551" t="0" r="115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0"/>
            <a:ext cx="6172200" cy="6019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4145BD-7DA7-4752-B73C-E5E52504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5A581-1766-4505-BDDE-6E99E063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三个任务递进，前两周只验收单源稳定与多源可运行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679BF-E879-436A-9232-E3D88184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074B5-1653-4CB2-9816-C8C1787E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验收不按“文档写完”判定，而按实际输入、证据链、输出和错误记录判定。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30FF3-12F0-4389-BCDC-53A3203C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35623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0045B-D5DF-4283-8D11-D3AB9C43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6C13B-C676-4A14-89B7-0F99D569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3105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Task 1  单源检索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3487D-4A58-4BD3-8F2D-89B2E6E0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105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原图 + 问题 + Image KG
接口层禁止 Web Search
第2周目标：稳定可展示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C8E9A-A352-4DF2-8B36-17EE30D7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00350"/>
            <a:ext cx="35623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83BBB-7480-4A9D-A83B-E62EC4E5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28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35B"/>
                </a:solidFill>
                <a:latin typeface="Arial Unicode MS"/>
                <a:ea typeface="Arial Unicode MS"/>
                <a:cs typeface="Arial Unicode MS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9EDF2-51FF-4D0D-A2F5-D4C7A489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29000"/>
            <a:ext cx="3105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Task 2  多源检索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58345-DCEA-4EDA-A2DA-FA95B85A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00500"/>
            <a:ext cx="3105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在 Task 1 基础上加入
查询改写 + Web Search
第2周目标：可运行原型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27185-33F8-493F-AE0B-08FB9CB2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35623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61620-615E-4AA6-BD49-7775D5D9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57369-37A0-4DE5-9619-434C34AB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3105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Task 3  多轮对话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56CA3-7E27-420C-97D7-02E0EA6A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31051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引入历史状态与指代消解
不纳入前两周验收
后续在单轮稳定后展开</a:t>
            </a:r>
          </a:p>
        </p:txBody>
      </p:sp>
    </p:spTree>
    <p:extLst>
      <p:ext uri="{BB962C8B-B14F-4D97-AF65-F5344CB8AC3E}">
        <p14:creationId xmlns:p14="http://schemas.microsoft.com/office/powerpoint/2010/main" val="1116730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EC3BAC-2BAC-49F9-831D-6F5C54B2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307AA-2628-435D-A8A6-29ED11A8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十分钟原型被重做为可追溯的工程底座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91AEF-1A26-4C54-B74D-FE3AFA50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334F8-D636-4023-8F75-0CD53809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旧交付保留归档，新结论只从可重复的代码和运行记录中产生。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666750" y="3238500"/>
            <a:ext cx="10382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DE3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C18FB-4BAB-4CDF-A450-C2BACCB1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94BC6-10E6-42E9-AB35-873C3B9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W1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D2606-9D4B-4318-9330-6AD5FC1A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环境与边界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ADA7F-48DA-434E-84C0-5146499C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9146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Python 3.11 虚拟环境
任务约束与提交接口
旧成果证据审计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E275B-BE8D-4254-A07F-DEBCE6F5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33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B485F-20C4-4E8B-A6CB-6069CC7D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24150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35B"/>
                </a:solidFill>
                <a:latin typeface="Arial Unicode MS"/>
                <a:ea typeface="Arial Unicode MS"/>
                <a:cs typeface="Arial Unicode MS"/>
              </a:defRPr>
            </a:pPr>
            <a:r>
              <a:t>W2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B14CA-4B1A-4658-B6DE-D975F07F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38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Agent 与测试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CA295-4DEF-41DD-9E35-CCB4C45A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95750"/>
            <a:ext cx="29146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Vision / Task1 / Task2
19 个单元与集成测试
120 条合成契约轨迹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AAEF9-FA11-4C91-B7A7-5A86E7E4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33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E4D90-F808-4804-9FE2-34DD0B3F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6600"/>
                </a:solidFill>
                <a:latin typeface="Arial Unicode MS"/>
                <a:ea typeface="Arial Unicode MS"/>
                <a:cs typeface="Arial Unicode MS"/>
              </a:defRPr>
            </a:pPr>
            <a:r>
              <a:t>NOW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9BA9D-834C-4153-BE01-D6213CF5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真实证据门槛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FC88A-A018-43DD-88F1-5AD6F716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29146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387 条真实 validation 数据
30 条固定样例
本地 VLM 真实错误案例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5E509-482B-4FCB-973A-89578054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29250"/>
            <a:ext cx="3009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520C8-8589-4BA6-B075-4590CDE1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660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完整检索效果仍待云端</a:t>
            </a:r>
          </a:p>
        </p:txBody>
      </p:sp>
    </p:spTree>
    <p:extLst>
      <p:ext uri="{BB962C8B-B14F-4D97-AF65-F5344CB8AC3E}">
        <p14:creationId xmlns:p14="http://schemas.microsoft.com/office/powerpoint/2010/main" val="918428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86366-A35A-4842-9A55-03533BD3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6FF1C-A2DF-4E20-A6B0-7DF3DB47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一次生成贯穿检索、证据约束与回答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61E9E-D90D-40D7-92FE-2D8AC28D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0CB43-628D-440F-98E2-7C40D70C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统一 Agent 根据 task_mode 决定证据边界，本地 MLX 与官方 vLLM 共用同一逻辑。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B8B93-02A8-4174-A5A2-24DB2EDD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D532D-F0EF-4F2E-AF13-AEFA3590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ECE48-7F7A-4A79-AFF1-2D4932B5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模式门控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000D3-A0C8-4C70-BFA7-909EE61E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Vision 不检索
Task1 禁止 Web
Task2 允许多源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2A4F6-1264-4298-AB32-ED675C7E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839E3-5F9A-4EFF-9CAF-0A5D4A52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35B"/>
                </a:solidFill>
                <a:latin typeface="Arial Unicode MS"/>
                <a:ea typeface="Arial Unicode MS"/>
                <a:cs typeface="Arial Unicode MS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3C9F7-085F-4155-9512-1F97E2CE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860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结构化检索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4F9E8-C5E2-48F3-B793-B91A81C6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622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实体、分数、KG 属性
Web 标题、摘要、URL
去重与相关性排序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A009B-89C0-426A-9689-60759EF2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ED2C1-AEB0-4C5B-996A-012C943E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9FF6F-5BF7-4EF2-8C12-D5689AE2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证据约束 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25ECC-8699-48A1-A810-6FD44F87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815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可见事实与外部知识分区
KG / Web 分别编号
冲突时拒答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CD424-F01E-4F39-8925-9F750A19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14800"/>
            <a:ext cx="552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F4376-DEF7-4FB5-8DC3-6940741C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6600"/>
                </a:solidFill>
                <a:latin typeface="Arial Unicode MS"/>
                <a:ea typeface="Arial Unicode MS"/>
                <a:cs typeface="Arial Unicode MS"/>
              </a:defRPr>
            </a:pPr>
            <a: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D9160-6723-4A00-8E87-2A594F0E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053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回答与 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7A5BA-BE81-4D65-A899-6CCC5A12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81550"/>
            <a:ext cx="428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75 token 上限与空答回退
异常不再静默吞掉
样例级 JSONL 可追溯</a:t>
            </a:r>
          </a:p>
        </p:txBody>
      </p:sp>
    </p:spTree>
    <p:extLst>
      <p:ext uri="{BB962C8B-B14F-4D97-AF65-F5344CB8AC3E}">
        <p14:creationId xmlns:p14="http://schemas.microsoft.com/office/powerpoint/2010/main" val="2083943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0CB6F3-D11C-44D8-8C08-1E083F59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925DC-F326-41AC-A5BA-6C847E23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目前最可靠的成果是工程证据，不是性能数字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DFB90-1999-4AB9-92C0-0C6EE8E2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7C8E8-9F9A-4F77-B3E9-3BFFCE8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76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这些数字回答“系统是否按设计工作”，不回答“在 benchmark 上得分多少”。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43B03-6FEE-40B1-AFE0-77E1BE7D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36DA4-BC86-485B-ADB5-6142CCC0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21635-C01D-4F3C-99E8-E497CD1F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CDA11-3E07-4FD5-834D-1C1A7ACE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自动化测试全部通过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6C0D1-A44B-4ACE-80D1-83640202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包括任务切换、批次顺序、异常记录、证据去重与 token 限制。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BF6BC-C8C6-48B5-B883-BE4832A1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320E7-E121-4E0F-9708-504B0EBE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35BB2-76F6-4E2B-9772-29BD4267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120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38E10-DED6-42BD-91A1-35E7B7A3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合成契约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C6592-4134-45BD-9A19-EC9F94E0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30 × 4 模式组合，验证无崩溃、无错位、Task1 不调用 Web。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71EF4-DE2F-4B28-8047-4E76F04B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77FB5-E43F-49B7-B513-3B620D59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25BC7-D5CD-413C-B14E-0CE71561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295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E75D4-4FD6-4D2F-9B9B-9FA9ED3D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243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真实固定样例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96FA9-F9D8-444D-9DA6-05DE00AC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1960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来自 387 条 validation 分片；固定随机种子并覆盖 5 类问题。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6DC952-C9D3-4415-AC28-25A5813E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CE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6D7D3-3995-499B-A085-C1847538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261E"/>
                </a:solidFill>
                <a:latin typeface="Arial Unicode MS"/>
                <a:ea typeface="Arial Unicode MS"/>
                <a:cs typeface="Arial Unicode MS"/>
              </a:defRPr>
            </a:pPr>
            <a:r>
              <a:t>尚无真实 Task1 / Task2 得分；合成测试不是 benchmark，不得写成性能提升。</a:t>
            </a:r>
          </a:p>
        </p:txBody>
      </p:sp>
    </p:spTree>
    <p:extLst>
      <p:ext uri="{BB962C8B-B14F-4D97-AF65-F5344CB8AC3E}">
        <p14:creationId xmlns:p14="http://schemas.microsoft.com/office/powerpoint/2010/main" val="19165934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61F53C-D424-46FC-BBED-65F5932E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3403C-EDE8-48EB-8C1C-0D597BA2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证据分三层：真实、合成、待云端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69B02-0222-4DCE-8135-830AB673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5A12B-CAD1-4DBD-88FB-965F60C3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76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只有第一层可以支持环境与单次推理事实；任务级效果结论必须等待云端实验。</a:t>
            </a:r>
          </a:p>
        </p:txBody>
      </p:sp>
      <p:graphicFrame>
        <p:nvGraphicFramePr>
          <p:cNvPr id="10" name="evidence-status"/>
          <p:cNvGraphicFramePr/>
          <p:nvPr/>
        </p:nvGraphicFramePr>
        <p:xfrm>
          <a:off xmlns:a="http://schemas.openxmlformats.org/drawingml/2006/main" x="400050" y="2114550"/>
          <a:ext xmlns:a="http://schemas.openxmlformats.org/drawingml/2006/main" cx="113919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2047875"/>
                <a:gridCol w="3905250"/>
                <a:gridCol w="4171950"/>
              </a:tblGrid>
              <a:tr h="647700">
                <a:tc>
                  <a:txBody>
                    <a:bodyPr/>
                    <a:lstStyle/>
                    <a:p>
                      <a:r>
                        <a:t>层级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直接证据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可支持的结论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真实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本机环境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Python 3.11 / MPS / 依赖清单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本地开发环境可复现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真实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数据与模型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387 条数据；1 张真图回答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推理链路可用，该答案错误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合成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分支与异常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120 条可控 trace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工程契约符合设计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待云端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Task1 30 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完整 Image KG 索引 + 11B VLM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验证相对 Vision 的真实性提升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待云端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Task2 30 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Image KG + Web 索引 + 人工复核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验证不退化与 Web 增益案例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4846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C2C877-A693-4752-85EE-29FA39DA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CRAG-MM  |  第20组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24B2D-101F-48AF-AC4C-64EA8258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云端只负责最后的真实效果闭环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8AD11-3BC1-47C4-ACC6-331C8221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19A"/>
                </a:solidFill>
                <a:latin typeface="Arial Unicode MS"/>
                <a:ea typeface="Arial Unicode MS"/>
                <a:cs typeface="Arial Unicode MS"/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CEDCC-4989-4007-9656-B8A5B07E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76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现在可以说“工程底座已完成”，但不能说“第二周性能验收已完成”。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110EB-4DFC-41F4-8431-3DECDB44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9E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当前结论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1A43E-199B-4ACC-9577-051CA729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5905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可运行、可追溯、
尚未达到性能验收。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B76E4-3466-4CCC-8FB5-8710C70C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61912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本地 Web validation 索引约 9.5GB，另有图像索引与 11B 模型；在当前带宽下继续下载不符合当日闭环目标。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4A81C-2550-444B-BCF3-EF726BBE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95500"/>
            <a:ext cx="44005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3B1AA-DC54-4DF0-9203-D3AD92C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371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云端验收清单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92972-8826-4108-BD0B-72403DDC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97D6E-71B2-4985-A01E-B3211EB7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配置 Linux / CUDA / vLLM / 11B Vision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0AB04-6983-4183-8CC9-071BF1D6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64B04-D67B-4466-ABB4-9FEE398F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0520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同步官方 Image + Web 检索索引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4A2DC-77D3-4D62-B321-167BA5B5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38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98949-2218-4FE0-A60A-4E7224CF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195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用同一批 30 + 30 样例运行对照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ECFB1-1E93-42EC-8616-6BF4DBD0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52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F1E9C-9DF0-4B79-8ADA-59128862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 Unicode MS"/>
                <a:ea typeface="Arial Unicode MS"/>
                <a:cs typeface="Arial Unicode MS"/>
              </a:defRPr>
            </a:pPr>
            <a:r>
              <a:t>人工复核成功、噪声、冲突案例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3F1A5-080D-46B8-9873-C63B62F6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6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19050">
            <a:solidFill>
              <a:srgbClr val="1769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01D18-2456-4668-869B-220776DF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057775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58324-1371-4298-97AC-7F7FDE06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482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t>Task1 &gt; Vision；Task2 不退化后才验收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13659D-09A2-49A9-B5D7-251DBC72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6600"/>
                </a:solidFill>
                <a:latin typeface="Arial Unicode MS"/>
                <a:ea typeface="Arial Unicode MS"/>
                <a:cs typeface="Arial Unicode MS"/>
              </a:defRPr>
            </a:pPr>
            <a:r>
              <a:t>下一步需要张家豪确认付费 GPU 环境。</a:t>
            </a:r>
          </a:p>
        </p:txBody>
      </p:sp>
    </p:spTree>
    <p:extLst>
      <p:ext uri="{BB962C8B-B14F-4D97-AF65-F5344CB8AC3E}">
        <p14:creationId xmlns:p14="http://schemas.microsoft.com/office/powerpoint/2010/main" val="567676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2026-07-12T08:12:41.7210000Z</dcterms:created>
  <dcterms:modified xsi:type="dcterms:W3CDTF">2026-07-12T08:12:41.7210000Z</dcterms:modified>
</coreProperties>
</file>